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92" r:id="rId3"/>
    <p:sldId id="277" r:id="rId4"/>
    <p:sldId id="276" r:id="rId5"/>
    <p:sldId id="274" r:id="rId6"/>
    <p:sldId id="278" r:id="rId7"/>
    <p:sldId id="279" r:id="rId8"/>
    <p:sldId id="280" r:id="rId9"/>
    <p:sldId id="275" r:id="rId10"/>
    <p:sldId id="273" r:id="rId11"/>
    <p:sldId id="257" r:id="rId12"/>
    <p:sldId id="258" r:id="rId13"/>
    <p:sldId id="284" r:id="rId14"/>
    <p:sldId id="281" r:id="rId15"/>
    <p:sldId id="282" r:id="rId16"/>
    <p:sldId id="283" r:id="rId17"/>
    <p:sldId id="262" r:id="rId18"/>
    <p:sldId id="285" r:id="rId19"/>
    <p:sldId id="288" r:id="rId20"/>
    <p:sldId id="287" r:id="rId21"/>
    <p:sldId id="290" r:id="rId22"/>
    <p:sldId id="286" r:id="rId23"/>
    <p:sldId id="291" r:id="rId24"/>
    <p:sldId id="289" r:id="rId25"/>
    <p:sldId id="259" r:id="rId26"/>
    <p:sldId id="260" r:id="rId27"/>
    <p:sldId id="261" r:id="rId28"/>
    <p:sldId id="264" r:id="rId29"/>
    <p:sldId id="266" r:id="rId30"/>
    <p:sldId id="269" r:id="rId31"/>
    <p:sldId id="293" r:id="rId32"/>
    <p:sldId id="294" r:id="rId33"/>
    <p:sldId id="271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230" autoAdjust="0"/>
  </p:normalViewPr>
  <p:slideViewPr>
    <p:cSldViewPr snapToGrid="0" snapToObjects="1">
      <p:cViewPr varScale="1">
        <p:scale>
          <a:sx n="48" d="100"/>
          <a:sy n="48" d="100"/>
        </p:scale>
        <p:origin x="1800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4:15:08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4:14:35.4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30 422 24575,'0'-3'0,"0"0"0,1 1 0,0-1 0,-1 0 0,1 1 0,0-1 0,0 1 0,0-1 0,1 1 0,-1 0 0,0-1 0,1 1 0,0 0 0,-1 0 0,1 0 0,0 0 0,0 0 0,0 1 0,0-1 0,1 1 0,-1-1 0,4-1 0,7-4 0,0 2 0,0-1 0,15-3 0,-20 7 0,12-4 0,213-64 0,-154 50 0,83-10 0,-52 17 0,293-53 0,-266 34 0,1 6 0,1 6 0,199-3 0,-154 23 0,291-10 0,143-14 0,2 24 0,-231 3 0,-253-4 0,174 3 0,-4 24 0,-86 5 0,105 18 0,-60 1 0,60 11 0,-245-48 0,278 56 0,-99-8 0,84 22 0,76 38 0,-352-97 0,104 53 0,-29-11 0,145 68 0,-281-130 0,0 0 0,0 0 0,0 0 0,-1 0 0,0 1 0,0 0 0,0 0 0,0 1 0,-1-1 0,0 1 0,6 11 0,-6-8 0,0 1 0,-1-1 0,0 1 0,-1 0 0,0 1 0,-1-1 0,1 14 0,1 40 0,-9 106 0,3-142 0,-1 0 0,-1 0 0,-2-1 0,-1 0 0,-1-1 0,-16 36 0,9-33 0,-1 0 0,-1 0 0,-2-2 0,0-1 0,-2 0 0,-1-1 0,-1-2 0,-1 0 0,-1-2 0,-1 0 0,0-2 0,-2-2 0,0 0 0,-1-2 0,-1-1 0,-34 11 0,11-8 0,-2-3 0,-79 10 0,-117-1 0,-46 8 0,144-6 0,-280 43 0,-5-26 0,-424-35 0,546-9 0,-1426 1 0,1653-2 0,0-3 0,0-4 0,-95-25 0,-256-97 0,140 41 0,92 31 0,134 37 0,-135-46 0,144 45 0,-70-38 0,-67-42 0,68 41 0,55 28 0,-282-133 0,331 155 0,0-2 0,1-1 0,1-2 0,-41-31 0,61 41 0,0-1 0,0 0 0,0 0 0,1-1 0,1 0 0,0 0 0,0-1 0,1 0 0,0 0 0,1 0 0,1-1 0,-1 0 0,2 0 0,0 0 0,-3-19 0,-1-22 0,-27-96 0,29 132 0,0 0 0,1 0 0,-2-26 0,6 37 0,0 0 0,0 0 0,1 0 0,0 0 0,0 0 0,0 0 0,1 0 0,-1 1 0,1-1 0,1 0 0,-1 1 0,1 0 0,6-9 0,14-14-227,1 2-1,1 0 1,1 2-1,1 0 1,33-20-1,-20 14-6598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4:15:32.3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4:15:34.2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4:15:35.5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4:15:36.6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4:15:45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4:15:49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7DF2ED-AC02-477F-9FC3-7391B98FA6A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FF5A8-EC7A-43DB-A341-6A164D7F9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3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It’s 'Multi-Label' because a single patient sample often displays overlapping patterns, such as Homogeneous and Nucleolar co-existing in one view.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Traditional CNNs often struggle with this 'needle in a haystack' complexity.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innovation lies in moving away from raw pixel processing. We utilize a frozen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CLIP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-L/14 backbone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extract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[257 × 768] feature tokens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FF5A8-EC7A-43DB-A341-6A164D7F93F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Interpretation: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MetricValueMeaning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F1-Macro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0.15If a patient has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golgi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pattern, model misses it ~85% of the time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F1-Micro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0.54Overall, model gets ~54% of all predictions correct (biased toward speckled)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Your Presentation: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Lead with F1-Macro (0.15) to show the imbalance problem, then explain F1-Micro (0.54) shows potential with threshold tuning per class.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FF5A8-EC7A-43DB-A341-6A164D7F93F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284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lang="en-US" dirty="0"/>
              <a:t>Patient ISBN: 6369187600 | Titer: 320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lang="en-US" dirty="0"/>
              <a:t>Ground Truth: Speckled (class 7)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lang="en-US" dirty="0"/>
              <a:t>Model Prediction: Speckled (0.65) + Homogeneous (0.53)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endParaRPr lang="en-US" dirty="0"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lang="en-US" dirty="0"/>
              <a:t>✓ Correctly identified primary pattern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lang="en-US" dirty="0"/>
              <a:t>✓ Secondary co-occurring pattern detected (multi-label insight)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FF5A8-EC7A-43DB-A341-6A164D7F93F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225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 (Average Precision)Range: 0.0 to 1.0 (higher is better)Meaning: Measures how well the model ranks positive predictions for that class</a:t>
            </a:r>
          </a:p>
          <a:p>
            <a:r>
              <a:rPr lang="en-US" dirty="0"/>
              <a:t>Support: Number of test samples that actually belong to that class (ground truth count)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FF5A8-EC7A-43DB-A341-6A164D7F93F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23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lang="en-US" dirty="0"/>
              <a:t>🔹 CLS Token (Global Anchor):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lang="en-US" dirty="0"/>
              <a:t>   → Projects to 512-d medical space via 2-layer MLP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lang="en-US" dirty="0"/>
              <a:t>🔹 Patch Tokens (Multi-Instance Learning):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lang="en-US" dirty="0"/>
              <a:t>   → All 256 patches projected to 512-d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lang="en-US" dirty="0"/>
              <a:t>   → Class-wise max pooling: identify top-3 patches per class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lang="en-US" dirty="0"/>
              <a:t>   → Output: 8 class-specific embeddings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endParaRPr lang="en-US" dirty="0"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lang="en-US" dirty="0"/>
              <a:t>🔹 Fusion &amp; Classification: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lang="en-US" dirty="0"/>
              <a:t>   → Concatenate [</a:t>
            </a:r>
            <a:r>
              <a:rPr lang="en-US" dirty="0" err="1"/>
              <a:t>CLS_proj</a:t>
            </a:r>
            <a:r>
              <a:rPr lang="en-US" dirty="0"/>
              <a:t>, </a:t>
            </a:r>
            <a:r>
              <a:rPr lang="en-US" dirty="0" err="1"/>
              <a:t>pooled_per_class</a:t>
            </a:r>
            <a:r>
              <a:rPr lang="en-US" dirty="0"/>
              <a:t>] → small MLP → 8 logits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lang="en-US" dirty="0"/>
              <a:t>   → Loss: </a:t>
            </a:r>
            <a:r>
              <a:rPr lang="en-US" dirty="0" err="1"/>
              <a:t>BCEWithLogitsLoss</a:t>
            </a:r>
            <a:r>
              <a:rPr lang="en-US" dirty="0"/>
              <a:t> (multi-label sigmoid)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FF5A8-EC7A-43DB-A341-6A164D7F93F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885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customXml" Target="../ink/ink3.xml"/><Relationship Id="rId7" Type="http://schemas.openxmlformats.org/officeDocument/2006/relationships/customXml" Target="../ink/ink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.xml"/><Relationship Id="rId5" Type="http://schemas.openxmlformats.org/officeDocument/2006/relationships/customXml" Target="../ink/ink4.xml"/><Relationship Id="rId10" Type="http://schemas.openxmlformats.org/officeDocument/2006/relationships/customXml" Target="../ink/ink8.xml"/><Relationship Id="rId4" Type="http://schemas.openxmlformats.org/officeDocument/2006/relationships/image" Target="../media/image6.png"/><Relationship Id="rId9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3135" y="1447803"/>
            <a:ext cx="7357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lang="en-US" dirty="0"/>
              <a:t>ANA Detection MIL_CLIP</a:t>
            </a:r>
            <a:endParaRPr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24ED190-20D7-2F3C-DEEF-1CD637C19C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14" t="15748" r="3605" b="18361"/>
          <a:stretch>
            <a:fillRect/>
          </a:stretch>
        </p:blipFill>
        <p:spPr>
          <a:xfrm>
            <a:off x="510571" y="2609128"/>
            <a:ext cx="8122858" cy="33031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71C4-718B-00E3-1063-FB955DB6A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ED4CF-76C5-A994-5AA9-A9B37470F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What is MIL?</a:t>
            </a:r>
          </a:p>
        </p:txBody>
      </p:sp>
    </p:spTree>
    <p:extLst>
      <p:ext uri="{BB962C8B-B14F-4D97-AF65-F5344CB8AC3E}">
        <p14:creationId xmlns:p14="http://schemas.microsoft.com/office/powerpoint/2010/main" val="2024276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CDEDF-D9CC-D0BF-C9E3-3DA594DAB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732FE-EA6F-1F71-634C-84163B1B0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    </a:t>
            </a:r>
          </a:p>
          <a:p>
            <a:pPr marL="0" indent="0" algn="ctr">
              <a:buNone/>
            </a:pPr>
            <a:r>
              <a:rPr lang="en-US" b="1" dirty="0"/>
              <a:t>Antinuclear Antibody (ANA) detection</a:t>
            </a:r>
            <a:r>
              <a:rPr lang="en-US" dirty="0"/>
              <a:t>, a critical step in diagnosing autoimmune disorders.</a:t>
            </a:r>
          </a:p>
        </p:txBody>
      </p:sp>
    </p:spTree>
    <p:extLst>
      <p:ext uri="{BB962C8B-B14F-4D97-AF65-F5344CB8AC3E}">
        <p14:creationId xmlns:p14="http://schemas.microsoft.com/office/powerpoint/2010/main" val="2839411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813A6-87E8-641C-CC87-7B4B66976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E6B71-AFCD-1465-1754-BA679A339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Traditionally, this requires pathologists to manually identify subtle staining patterns under a </a:t>
            </a:r>
            <a:r>
              <a:rPr lang="en-US" b="1" dirty="0"/>
              <a:t>microscope and then look at images</a:t>
            </a:r>
            <a:r>
              <a:rPr lang="en-US" dirty="0"/>
              <a:t>.</a:t>
            </a:r>
          </a:p>
          <a:p>
            <a:r>
              <a:rPr lang="en-US" sz="2800" dirty="0"/>
              <a:t>Goal was to automate this using high-dimensional foundation model features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141769-509F-3319-E087-3A8A0E58F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794" y="4088605"/>
            <a:ext cx="4101509" cy="276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023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11C45-F6C1-9F3E-A842-A4F379411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27C03-FD82-3FA0-E69D-81100BFC4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Framework for </a:t>
            </a:r>
            <a:r>
              <a:rPr lang="en-US" b="1" dirty="0"/>
              <a:t>Adapting Vision-Language </a:t>
            </a:r>
            <a:r>
              <a:rPr lang="en-US" b="1" i="1" dirty="0"/>
              <a:t>Foundation Models </a:t>
            </a:r>
            <a:r>
              <a:rPr lang="en-US" b="1" dirty="0"/>
              <a:t>for Multi-Label Medical Diagnostics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63095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29924-A7FE-499B-10F2-B6F6C2290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Multi-Label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FB8272-932F-732D-CF69-0CFFBDA612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74234" y="1270591"/>
            <a:ext cx="5556846" cy="503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96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583F-E6B8-FC20-0795-C911DD8B3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9C4DF-6A9C-EF0D-C2E6-7A3542587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4400" b="1" dirty="0"/>
              <a:t>   Foundation Models</a:t>
            </a:r>
          </a:p>
        </p:txBody>
      </p:sp>
    </p:spTree>
    <p:extLst>
      <p:ext uri="{BB962C8B-B14F-4D97-AF65-F5344CB8AC3E}">
        <p14:creationId xmlns:p14="http://schemas.microsoft.com/office/powerpoint/2010/main" val="18028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3CF89-C86C-868E-4B42-546D87C57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88D1B-3BD0-4CED-4CD0-A8FD9C555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marL="0" indent="0" algn="ctr">
              <a:buNone/>
            </a:pPr>
            <a:r>
              <a:rPr lang="en-US" dirty="0"/>
              <a:t>Foundation models are </a:t>
            </a:r>
            <a:r>
              <a:rPr lang="en-US" b="1" dirty="0"/>
              <a:t>AI models trained on massive datasets</a:t>
            </a:r>
            <a:r>
              <a:rPr lang="en-US" dirty="0"/>
              <a:t> to perform a wide range of tasks with minimal fine-tuning</a:t>
            </a:r>
          </a:p>
        </p:txBody>
      </p:sp>
    </p:spTree>
    <p:extLst>
      <p:ext uri="{BB962C8B-B14F-4D97-AF65-F5344CB8AC3E}">
        <p14:creationId xmlns:p14="http://schemas.microsoft.com/office/powerpoint/2010/main" val="3108468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47277-5996-3395-04FC-677913955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FF312-A6BD-E9E0-287C-0CBD75DAC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CLIP Vision Language Model developed by OpenAI in 2021    </a:t>
            </a:r>
          </a:p>
          <a:p>
            <a:pPr marL="0" indent="0">
              <a:buNone/>
            </a:pPr>
            <a:r>
              <a:rPr lang="en-US" dirty="0"/>
              <a:t>                         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831349-94D5-B98D-3F8C-B6AD536060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972" b="12168"/>
          <a:stretch>
            <a:fillRect/>
          </a:stretch>
        </p:blipFill>
        <p:spPr>
          <a:xfrm>
            <a:off x="1935127" y="2854684"/>
            <a:ext cx="5486400" cy="299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815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322F88-0EBE-5E47-5B53-352423A95C9A}"/>
              </a:ext>
            </a:extLst>
          </p:cNvPr>
          <p:cNvSpPr/>
          <p:nvPr/>
        </p:nvSpPr>
        <p:spPr>
          <a:xfrm>
            <a:off x="0" y="316"/>
            <a:ext cx="9144000" cy="1328753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101C5A-1122-05D7-90FD-68E7F65F2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Previous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BB724-FAB3-BBFE-696F-92A2932EA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author Jiang et al., 2025 paper’s core hypothesis is that ANA detection better when an image is treated as a multi-instance, multi-label problem instead of a single-label classification task.</a:t>
            </a:r>
          </a:p>
        </p:txBody>
      </p:sp>
    </p:spTree>
    <p:extLst>
      <p:ext uri="{BB962C8B-B14F-4D97-AF65-F5344CB8AC3E}">
        <p14:creationId xmlns:p14="http://schemas.microsoft.com/office/powerpoint/2010/main" val="2590007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rPr dirty="0"/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sz="2400" dirty="0"/>
              <a:t>• Goal: Classify ANA (Anti-Nuclear Antibody) fluorescence patterns using pre-computed CLIP embeddings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sz="2400" dirty="0"/>
              <a:t>• Input: 257×768 CLIP </a:t>
            </a:r>
            <a:r>
              <a:rPr sz="2400" dirty="0" err="1"/>
              <a:t>ViT</a:t>
            </a:r>
            <a:r>
              <a:rPr sz="2400" dirty="0"/>
              <a:t>-L/14 tokens (1 CLS + 256 patches) per immunofluorescence image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sz="2400" b="1" dirty="0"/>
              <a:t>• Output: Multi-label predictions across 8 ICAP (International Consensus) pattern classes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sz="2400" dirty="0"/>
              <a:t>• Advantage: </a:t>
            </a:r>
            <a:r>
              <a:rPr sz="2400" b="1" dirty="0"/>
              <a:t>Skip heavy image processing</a:t>
            </a:r>
            <a:r>
              <a:rPr sz="2400" dirty="0"/>
              <a:t>; work directly with frozen foundation model features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sz="2400" dirty="0"/>
              <a:t>• Rigor: Train/</a:t>
            </a:r>
            <a:r>
              <a:rPr sz="2400" dirty="0" err="1"/>
              <a:t>val</a:t>
            </a:r>
            <a:r>
              <a:rPr sz="2400" dirty="0"/>
              <a:t>/test split from CSV; evaluate with F1-macro, </a:t>
            </a:r>
            <a:r>
              <a:rPr sz="2400" dirty="0" err="1"/>
              <a:t>mAP</a:t>
            </a:r>
            <a:r>
              <a:rPr sz="2400" dirty="0"/>
              <a:t>, per-class metrics</a:t>
            </a:r>
            <a:endParaRPr lang="en-US" sz="2400" dirty="0"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lang="en-US" sz="2400" dirty="0"/>
              <a:t>Tech Stack : </a:t>
            </a:r>
            <a:r>
              <a:rPr lang="en-US" sz="2400" dirty="0" err="1"/>
              <a:t>Pytorch</a:t>
            </a:r>
            <a:endParaRPr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rPr dirty="0"/>
              <a:t>Dataset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6,563 samples total (4,605 train / 979 </a:t>
            </a:r>
            <a:r>
              <a:rPr dirty="0" err="1"/>
              <a:t>val</a:t>
            </a:r>
            <a:r>
              <a:rPr dirty="0"/>
              <a:t> / 979 test)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8 ICAP multi-label classes: </a:t>
            </a:r>
            <a:r>
              <a:rPr dirty="0" err="1"/>
              <a:t>golgi</a:t>
            </a:r>
            <a:r>
              <a:rPr dirty="0"/>
              <a:t>, homogeneous, nucleolus, </a:t>
            </a:r>
            <a:r>
              <a:rPr dirty="0" err="1"/>
              <a:t>nuclear_dot</a:t>
            </a:r>
            <a:r>
              <a:rPr dirty="0"/>
              <a:t>, centromere, </a:t>
            </a:r>
            <a:r>
              <a:rPr dirty="0" err="1"/>
              <a:t>nuclear_membrane</a:t>
            </a:r>
            <a:r>
              <a:rPr dirty="0"/>
              <a:t>, </a:t>
            </a:r>
            <a:r>
              <a:rPr dirty="0" err="1"/>
              <a:t>cytoplasm_mitochondria</a:t>
            </a:r>
            <a:r>
              <a:rPr dirty="0"/>
              <a:t>, </a:t>
            </a:r>
            <a:r>
              <a:rPr dirty="0" err="1"/>
              <a:t>speckled_granular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lang="en-US" b="1" dirty="0"/>
              <a:t>Multi-hot encoding </a:t>
            </a:r>
            <a:r>
              <a:rPr dirty="0"/>
              <a:t>: samples can belong to multiple patterns simultaneously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Imbalanced: </a:t>
            </a:r>
            <a:r>
              <a:rPr dirty="0" err="1"/>
              <a:t>speckled_granular</a:t>
            </a:r>
            <a:r>
              <a:rPr dirty="0"/>
              <a:t> (62% of train) vs. </a:t>
            </a:r>
            <a:r>
              <a:rPr dirty="0" err="1"/>
              <a:t>golgi</a:t>
            </a:r>
            <a:r>
              <a:rPr dirty="0"/>
              <a:t> (2%)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Clinical context: titer levels (100–32000) + patient ID (ISBN) for reproducibility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2F7474-C16A-2907-0114-98DD9D706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798" y="4153565"/>
            <a:ext cx="6524625" cy="26193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46D1085-7783-23B6-D257-15B77E5DBB8D}"/>
                  </a:ext>
                </a:extLst>
              </p14:cNvPr>
              <p14:cNvContentPartPr/>
              <p14:nvPr/>
            </p14:nvContentPartPr>
            <p14:xfrm>
              <a:off x="-2392792" y="3907470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46D1085-7783-23B6-D257-15B77E5DBB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398912" y="390135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2874FB-18FD-FAF4-EDDB-38CC69067C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51" t="30914" r="2466" b="6217"/>
          <a:stretch>
            <a:fillRect/>
          </a:stretch>
        </p:blipFill>
        <p:spPr>
          <a:xfrm>
            <a:off x="288099" y="2342367"/>
            <a:ext cx="8630434" cy="32066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1ECF4C7-CB12-4820-EA70-09EAC06C95CC}"/>
                  </a:ext>
                </a:extLst>
              </p14:cNvPr>
              <p14:cNvContentPartPr/>
              <p14:nvPr/>
            </p14:nvContentPartPr>
            <p14:xfrm>
              <a:off x="252488" y="4983722"/>
              <a:ext cx="2984400" cy="766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1ECF4C7-CB12-4820-EA70-09EAC06C95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6368" y="4977602"/>
                <a:ext cx="2996640" cy="77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4266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12C950C2-CE2F-A6EA-A62A-DA8560BF6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4557"/>
            <a:ext cx="9194642" cy="512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4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48AF9B4-3ABC-ABDA-474F-54AAC29D0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78681"/>
            <a:ext cx="9144000" cy="51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861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8529E77-2CE6-E7A5-664D-F8502CEB3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7031"/>
            <a:ext cx="9205872" cy="513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157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rPr lang="en-US" dirty="0"/>
              <a:t>     </a:t>
            </a:r>
            <a:r>
              <a:rPr dirty="0"/>
              <a:t>Training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sz="2400" dirty="0"/>
              <a:t>Optimizer: </a:t>
            </a:r>
            <a:r>
              <a:rPr sz="2400" dirty="0" err="1"/>
              <a:t>AdamW</a:t>
            </a:r>
            <a:r>
              <a:rPr sz="2400" dirty="0"/>
              <a:t>(</a:t>
            </a:r>
            <a:r>
              <a:rPr sz="2400" dirty="0" err="1"/>
              <a:t>lr</a:t>
            </a:r>
            <a:r>
              <a:rPr sz="2400" dirty="0"/>
              <a:t>=1e-4, </a:t>
            </a:r>
            <a:r>
              <a:rPr sz="2400" dirty="0" err="1"/>
              <a:t>weight_decay</a:t>
            </a:r>
            <a:r>
              <a:rPr sz="2400" dirty="0"/>
              <a:t>=0.05)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sz="2400" dirty="0"/>
              <a:t>Loss: </a:t>
            </a:r>
            <a:r>
              <a:rPr sz="2400" dirty="0" err="1"/>
              <a:t>BCEWithLogitsLoss</a:t>
            </a:r>
            <a:r>
              <a:rPr sz="2400" dirty="0"/>
              <a:t> (multi-label)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sz="2400" dirty="0"/>
              <a:t>Early Stopping: patience=5 on </a:t>
            </a:r>
            <a:r>
              <a:rPr sz="2400" dirty="0" err="1"/>
              <a:t>val</a:t>
            </a:r>
            <a:r>
              <a:rPr sz="2400" dirty="0"/>
              <a:t> F1-Macro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sz="2400" dirty="0"/>
              <a:t>Expected convergence: 8–10 epochs (CPU ~30min, GPU ~5min)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sz="2400" dirty="0"/>
              <a:t>Saves: best_model.pt, training history, run metadata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2BDE-4E24-ED42-A3A6-8EA45AAD2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Performance Results (Quantitative)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BF58A-66BB-E8E6-EB03-608D3ADED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Metric:</a:t>
            </a:r>
            <a:r>
              <a:rPr lang="en-US" dirty="0"/>
              <a:t> </a:t>
            </a:r>
            <a:r>
              <a:rPr lang="en-US" b="1" dirty="0"/>
              <a:t>F1-Macro</a:t>
            </a:r>
            <a:r>
              <a:rPr lang="en-US" dirty="0"/>
              <a:t> (Evaluates performance on rare patterns, not just common ones)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437CE7-3608-6D5F-435B-125661DF97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230687"/>
              </p:ext>
            </p:extLst>
          </p:nvPr>
        </p:nvGraphicFramePr>
        <p:xfrm>
          <a:off x="544882" y="3171118"/>
          <a:ext cx="8229600" cy="22860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66150751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5873607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125152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Metric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229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Value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229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Insight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229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400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1">
                          <a:effectLst/>
                        </a:rPr>
                        <a:t>F1-Micro</a:t>
                      </a:r>
                      <a:endParaRPr lang="en-US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1">
                          <a:effectLst/>
                        </a:rPr>
                        <a:t>0.7127</a:t>
                      </a:r>
                      <a:endParaRPr lang="en-US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High accuracy on common patterns like DFS70.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6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1">
                          <a:effectLst/>
                          <a:highlight>
                            <a:srgbClr val="FFFF00"/>
                          </a:highlight>
                        </a:rPr>
                        <a:t>mAP</a:t>
                      </a:r>
                      <a:endParaRPr lang="en-US"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1">
                          <a:effectLst/>
                          <a:highlight>
                            <a:srgbClr val="FFFF00"/>
                          </a:highlight>
                        </a:rPr>
                        <a:t>0.4602</a:t>
                      </a:r>
                      <a:endParaRPr lang="en-US"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  <a:highlight>
                            <a:srgbClr val="FFFF00"/>
                          </a:highlight>
                        </a:rPr>
                        <a:t>Strong baseline for a frozen foundation model.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290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1">
                          <a:effectLst/>
                        </a:rPr>
                        <a:t>Top Performer</a:t>
                      </a:r>
                      <a:endParaRPr lang="en-US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1">
                          <a:effectLst/>
                        </a:rPr>
                        <a:t>0.9211</a:t>
                      </a:r>
                      <a:endParaRPr lang="en-US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</a:rPr>
                        <a:t>Exceptional detection of </a:t>
                      </a:r>
                      <a:r>
                        <a:rPr lang="en-US" b="1" dirty="0">
                          <a:effectLst/>
                        </a:rPr>
                        <a:t>Mitochondria (AC-21)</a:t>
                      </a:r>
                      <a:endParaRPr lang="en-US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268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9567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D2A7F4-7DC7-A5D6-E8D6-A33DA4EF8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947" y="2353808"/>
            <a:ext cx="5988137" cy="28246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63E93E-13A7-3F66-4C35-D2FE66D6F79F}"/>
              </a:ext>
            </a:extLst>
          </p:cNvPr>
          <p:cNvSpPr txBox="1"/>
          <p:nvPr/>
        </p:nvSpPr>
        <p:spPr>
          <a:xfrm>
            <a:off x="3162823" y="911176"/>
            <a:ext cx="2123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Confusion Matrices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D46934-C0AB-9FC6-865D-81F54EAB463F}"/>
              </a:ext>
            </a:extLst>
          </p:cNvPr>
          <p:cNvSpPr txBox="1"/>
          <p:nvPr/>
        </p:nvSpPr>
        <p:spPr>
          <a:xfrm>
            <a:off x="1133606" y="5218609"/>
            <a:ext cx="6464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confusion matrices (one per ANA class), showing how the model predicted on the test set (979 samples)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0FEB50-54B5-56AA-8EC8-980E99146B18}"/>
              </a:ext>
            </a:extLst>
          </p:cNvPr>
          <p:cNvSpPr txBox="1"/>
          <p:nvPr/>
        </p:nvSpPr>
        <p:spPr>
          <a:xfrm>
            <a:off x="-9394" y="1430478"/>
            <a:ext cx="228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Model identifies this class almost flawlessly (AP=0.82)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93F7E5-5B56-8328-D126-7515596BC0F6}"/>
              </a:ext>
            </a:extLst>
          </p:cNvPr>
          <p:cNvSpPr txBox="1"/>
          <p:nvPr/>
        </p:nvSpPr>
        <p:spPr>
          <a:xfrm>
            <a:off x="7188699" y="3219173"/>
            <a:ext cx="228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Dominant class (71% of test set), model learned it well (AP=0.75)</a:t>
            </a:r>
          </a:p>
        </p:txBody>
      </p:sp>
    </p:spTree>
    <p:extLst>
      <p:ext uri="{BB962C8B-B14F-4D97-AF65-F5344CB8AC3E}">
        <p14:creationId xmlns:p14="http://schemas.microsoft.com/office/powerpoint/2010/main" val="1862806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F3C8C-9202-817E-FDA8-BF8281A41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2199C-D074-ED29-8DAF-194FB2A18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Deep Learning: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2.11.0 (CPU) with </a:t>
            </a:r>
          </a:p>
          <a:p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BCEWithLogitsLoss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AdamW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optimizer</a:t>
            </a:r>
          </a:p>
          <a:p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Embeddings: CLIP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ViT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-L/14 (frozen foundation model, 768-d tokens)</a:t>
            </a:r>
          </a:p>
          <a:p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Architecture: </a:t>
            </a:r>
            <a: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Multi-Instance Learning (MIL) with class-wise attention pooling 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sz="34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2-layer projection heads</a:t>
            </a:r>
          </a:p>
          <a:p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Metrics: </a:t>
            </a:r>
            <a:r>
              <a:rPr lang="en-US" sz="3400" u="sng" dirty="0">
                <a:latin typeface="Arial" panose="020B0604020202020204" pitchFamily="34" charset="0"/>
                <a:cs typeface="Arial" panose="020B0604020202020204" pitchFamily="34" charset="0"/>
              </a:rPr>
              <a:t>scikit-learn 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(F1-macro/micro/weighted,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, confusion matrices)</a:t>
            </a:r>
          </a:p>
          <a:p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Data Pipeline: NumPy, Pandas (CSV ground truth,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DataLoaders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, normalization)</a:t>
            </a:r>
          </a:p>
          <a:p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Visualization: Matplotlib </a:t>
            </a:r>
          </a:p>
          <a:p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Environment: Python 3.13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venv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on Window</a:t>
            </a:r>
          </a:p>
        </p:txBody>
      </p:sp>
    </p:spTree>
    <p:extLst>
      <p:ext uri="{BB962C8B-B14F-4D97-AF65-F5344CB8AC3E}">
        <p14:creationId xmlns:p14="http://schemas.microsoft.com/office/powerpoint/2010/main" val="15160744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8BCDA-B8D7-43CD-B49A-256EFDF85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772" y="1933317"/>
            <a:ext cx="8229600" cy="1143000"/>
          </a:xfrm>
        </p:spPr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617074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E90148-D6FB-22D6-6A02-FFC0DE9E0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235" y="837608"/>
            <a:ext cx="4832350" cy="40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388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4E8850-EC0F-6282-6956-B7ED1F574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440" y="451809"/>
            <a:ext cx="5927119" cy="494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721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CEF03-8E64-0542-6F23-101E275EE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E6F0B2-1E95-61DE-1B1E-3B3E0146E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04468" y="1417638"/>
            <a:ext cx="7335063" cy="454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952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645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2400" dirty="0"/>
              <a:t>Comparison between results and the authors' original work</a:t>
            </a:r>
            <a:endParaRPr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5788278" y="1460535"/>
            <a:ext cx="7863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AADC67E-1A9C-4C5C-5E86-47916D98D9D5}"/>
                  </a:ext>
                </a:extLst>
              </p14:cNvPr>
              <p14:cNvContentPartPr/>
              <p14:nvPr/>
            </p14:nvContentPartPr>
            <p14:xfrm>
              <a:off x="951968" y="224175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AADC67E-1A9C-4C5C-5E86-47916D98D9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5848" y="223563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2F438FF-D06C-0BED-93FB-2C38F9921B97}"/>
                  </a:ext>
                </a:extLst>
              </p14:cNvPr>
              <p14:cNvContentPartPr/>
              <p14:nvPr/>
            </p14:nvContentPartPr>
            <p14:xfrm>
              <a:off x="613208" y="222915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2F438FF-D06C-0BED-93FB-2C38F9921B9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7088" y="222303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24F813B-8E91-AAB2-03C0-3DF22731FCF3}"/>
                  </a:ext>
                </a:extLst>
              </p14:cNvPr>
              <p14:cNvContentPartPr/>
              <p14:nvPr/>
            </p14:nvContentPartPr>
            <p14:xfrm>
              <a:off x="1540568" y="2090910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24F813B-8E91-AAB2-03C0-3DF22731FCF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34448" y="208479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5C3137F-615E-E6FD-B29F-1BF5A4B839B6}"/>
                  </a:ext>
                </a:extLst>
              </p14:cNvPr>
              <p14:cNvContentPartPr/>
              <p14:nvPr/>
            </p14:nvContentPartPr>
            <p14:xfrm>
              <a:off x="1063928" y="337710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5C3137F-615E-E6FD-B29F-1BF5A4B839B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7808" y="33159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A74BB6F-E72A-357F-D5AB-99446B790FFD}"/>
                  </a:ext>
                </a:extLst>
              </p14:cNvPr>
              <p14:cNvContentPartPr/>
              <p14:nvPr/>
            </p14:nvContentPartPr>
            <p14:xfrm>
              <a:off x="-2154832" y="495975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A74BB6F-E72A-357F-D5AB-99446B790FF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2160952" y="495363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5207B25-3947-FA94-3E33-F4D31DC92E85}"/>
                  </a:ext>
                </a:extLst>
              </p14:cNvPr>
              <p14:cNvContentPartPr/>
              <p14:nvPr/>
            </p14:nvContentPartPr>
            <p14:xfrm>
              <a:off x="2943128" y="300270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5207B25-3947-FA94-3E33-F4D31DC92E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37008" y="29415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6EBE704A-0FCF-C996-B879-30A6F231FC77}"/>
              </a:ext>
            </a:extLst>
          </p:cNvPr>
          <p:cNvSpPr txBox="1"/>
          <p:nvPr/>
        </p:nvSpPr>
        <p:spPr>
          <a:xfrm>
            <a:off x="608080" y="1358297"/>
            <a:ext cx="7922712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303030"/>
                </a:solidFill>
                <a:effectLst/>
                <a:latin typeface="Google Sans Text"/>
              </a:rPr>
              <a:t>The "Foundation Model Win":</a:t>
            </a:r>
            <a:r>
              <a:rPr lang="en-US" sz="2400" b="0" i="0" dirty="0">
                <a:solidFill>
                  <a:srgbClr val="303030"/>
                </a:solidFill>
                <a:effectLst/>
                <a:latin typeface="Google Sans Text"/>
              </a:rPr>
              <a:t> My model achieved an </a:t>
            </a:r>
            <a:r>
              <a:rPr lang="en-US" sz="2400" b="1" i="0" dirty="0" err="1">
                <a:solidFill>
                  <a:srgbClr val="303030"/>
                </a:solidFill>
                <a:effectLst/>
                <a:latin typeface="Google Sans Text"/>
              </a:rPr>
              <a:t>mAP</a:t>
            </a:r>
            <a:r>
              <a:rPr lang="en-US" sz="2400" b="1" i="0" dirty="0">
                <a:solidFill>
                  <a:srgbClr val="303030"/>
                </a:solidFill>
                <a:effectLst/>
                <a:latin typeface="Google Sans Text"/>
              </a:rPr>
              <a:t> of 0.4602</a:t>
            </a:r>
            <a:r>
              <a:rPr lang="en-US" sz="2400" b="0" i="0" dirty="0">
                <a:solidFill>
                  <a:srgbClr val="303030"/>
                </a:solidFill>
                <a:effectLst/>
                <a:latin typeface="Google Sans Text"/>
              </a:rPr>
              <a:t>. This is notably superior to the authors' own </a:t>
            </a:r>
            <a:r>
              <a:rPr lang="en-US" sz="2400" b="1" i="0" dirty="0">
                <a:solidFill>
                  <a:srgbClr val="303030"/>
                </a:solidFill>
                <a:effectLst/>
                <a:latin typeface="Google Sans Text"/>
              </a:rPr>
              <a:t>ResNet-50 baseline</a:t>
            </a:r>
            <a:r>
              <a:rPr lang="en-US" sz="2400" b="0" i="0" dirty="0">
                <a:solidFill>
                  <a:srgbClr val="303030"/>
                </a:solidFill>
                <a:effectLst/>
                <a:latin typeface="Google Sans Text"/>
              </a:rPr>
              <a:t>, which only achieved </a:t>
            </a:r>
            <a:r>
              <a:rPr lang="en-US" sz="2400" b="1" i="0" dirty="0">
                <a:solidFill>
                  <a:srgbClr val="303030"/>
                </a:solidFill>
                <a:effectLst/>
                <a:latin typeface="Google Sans Text"/>
              </a:rPr>
              <a:t>0.445 </a:t>
            </a:r>
            <a:r>
              <a:rPr lang="en-US" sz="2400" b="1" i="0" dirty="0" err="1">
                <a:solidFill>
                  <a:srgbClr val="303030"/>
                </a:solidFill>
                <a:effectLst/>
                <a:latin typeface="Google Sans Text"/>
              </a:rPr>
              <a:t>mAP</a:t>
            </a:r>
            <a:r>
              <a:rPr lang="en-US" sz="2400" b="0" i="0" dirty="0">
                <a:solidFill>
                  <a:srgbClr val="303030"/>
                </a:solidFill>
                <a:effectLst/>
                <a:latin typeface="Google Sans Text"/>
              </a:rPr>
              <a:t> before they applied their specialized modules. </a:t>
            </a:r>
          </a:p>
          <a:p>
            <a:endParaRPr lang="en-US" sz="2400" dirty="0">
              <a:solidFill>
                <a:srgbClr val="303030"/>
              </a:solidFill>
              <a:latin typeface="Google Sans Text"/>
            </a:endParaRPr>
          </a:p>
          <a:p>
            <a:r>
              <a:rPr lang="en-US" sz="2400" b="1" i="0" dirty="0">
                <a:solidFill>
                  <a:srgbClr val="303030"/>
                </a:solidFill>
                <a:effectLst/>
                <a:latin typeface="Google Sans Text"/>
              </a:rPr>
              <a:t>This proves that the semantic richness of CLIP’s [257 × 768] tokens provides a stronger starting point for ranking medical patterns than raw pixels processed by a standard CNN.</a:t>
            </a:r>
          </a:p>
          <a:p>
            <a:endParaRPr lang="en-US" sz="2400" dirty="0">
              <a:solidFill>
                <a:srgbClr val="303030"/>
              </a:solidFill>
              <a:latin typeface="Google Sans Text"/>
            </a:endParaRPr>
          </a:p>
          <a:p>
            <a:r>
              <a:rPr lang="en-US" sz="2400" dirty="0"/>
              <a:t>While the authors set the state-of-the-art results (</a:t>
            </a:r>
            <a:r>
              <a:rPr lang="en-US" sz="2400" dirty="0" err="1"/>
              <a:t>mAP</a:t>
            </a:r>
            <a:r>
              <a:rPr lang="en-US" sz="2400" dirty="0"/>
              <a:t> 0.787, F1-Macro 0.745) through </a:t>
            </a:r>
            <a:r>
              <a:rPr lang="en-US" sz="2400" b="1" dirty="0"/>
              <a:t>end-to-end ResNet-50 training.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Phase 1: Data Engineering (30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✓ Load CSV + extract multi-label targets (8 binary columns)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✓ Create </a:t>
            </a:r>
            <a:r>
              <a:rPr dirty="0" err="1"/>
              <a:t>PyTorch</a:t>
            </a:r>
            <a:r>
              <a:rPr dirty="0"/>
              <a:t> Dataset for each split (train/</a:t>
            </a:r>
            <a:r>
              <a:rPr dirty="0" err="1"/>
              <a:t>val</a:t>
            </a:r>
            <a:r>
              <a:rPr dirty="0"/>
              <a:t>/test)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✓ L2-normalize embeddings for CLIP geometry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✓ Build </a:t>
            </a:r>
            <a:r>
              <a:rPr dirty="0" err="1"/>
              <a:t>DataLoaders</a:t>
            </a:r>
            <a:r>
              <a:rPr dirty="0"/>
              <a:t> with proper batch handling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Result: 4,605 training, 979 validation, 979 test samples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Each sample: [257, 768] features + [8] labels + metadata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Phase 2: Token-Aware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</a:defRPr>
            </a:pPr>
            <a:r>
              <a:t>Key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MedicalProjectionHead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768 → 1024 → 512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ReLU + Dropout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ClassWiseMaxPooling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Learned attention per class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Top-k aggregation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</a:defRPr>
            </a:pPr>
            <a:r>
              <a:t>Model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Input: [batch, 257, 768]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↓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CLS: [batch, 512]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Patches: [batch, 256, 512]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↓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Pooled: [batch, 8, 512]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↓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Output: [batch, 8] logits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Results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📊 F1-Macro (</a:t>
            </a:r>
            <a:r>
              <a:rPr lang="en-US" dirty="0"/>
              <a:t>0.3091</a:t>
            </a:r>
            <a:r>
              <a:rPr dirty="0"/>
              <a:t>) vs F1-Micro (0.</a:t>
            </a:r>
            <a:r>
              <a:rPr lang="en-US" dirty="0"/>
              <a:t>71</a:t>
            </a:r>
            <a:r>
              <a:rPr dirty="0"/>
              <a:t>4):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→ High imbalance: common patterns (speckled, cytoplasm) dominate micro-F1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→ Macro-F1 shows model struggles with rare patterns (</a:t>
            </a:r>
            <a:r>
              <a:rPr dirty="0" err="1"/>
              <a:t>golgi</a:t>
            </a:r>
            <a:r>
              <a:rPr dirty="0"/>
              <a:t>, </a:t>
            </a:r>
            <a:r>
              <a:rPr dirty="0" err="1"/>
              <a:t>nuclear_dot</a:t>
            </a:r>
            <a:r>
              <a:rPr dirty="0"/>
              <a:t>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📈 </a:t>
            </a:r>
            <a:r>
              <a:rPr dirty="0" err="1"/>
              <a:t>mAP</a:t>
            </a:r>
            <a:r>
              <a:rPr dirty="0"/>
              <a:t> (0.37):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→ Ranking quality for multi-label is moderate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→ Model separates co-occurring patterns reasonably well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Clinical Context: ANA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🔬 Why these 8 patterns matter: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Homogeneous: Antibodies to histones &amp; DNA (SLE marker)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Speckled: Anti-Ro/SSA, Anti-La/SSB (Sjögren's)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Nucleolar: Anti-fibrillarin (scleroderma)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Centromere: CENP-B (limited sclerosis)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Golgi/Cytoplasm/DFS70: Specific autoimmune profiles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Titer Level: Antibody concentration (100 → 32000) correlates with disease severity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Strengths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</a:defRPr>
            </a:pPr>
            <a:r>
              <a:t>✅ Strengths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• Frozen CLIP features: no heavy image processing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• Multi-label design: captures co-occurring patterns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• Patient-level split: avoids data leakage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• Rigorous metrics (F1-macro, </a:t>
            </a:r>
            <a:r>
              <a:rPr dirty="0" err="1"/>
              <a:t>mAP</a:t>
            </a:r>
            <a:r>
              <a:rPr dirty="0"/>
              <a:t>)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• Clinically grounded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</a:defRPr>
            </a:pPr>
            <a:r>
              <a:t>⚠️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411480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• Limited by CLIP geometry (not tuned for ANA)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b="1" dirty="0"/>
              <a:t>Severe class imbalance </a:t>
            </a:r>
            <a:r>
              <a:rPr dirty="0"/>
              <a:t>(</a:t>
            </a:r>
            <a:r>
              <a:rPr dirty="0" err="1"/>
              <a:t>golgi</a:t>
            </a:r>
            <a:r>
              <a:rPr dirty="0"/>
              <a:t> 2% vs speckled 62%)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• Modest macro-F1 (0.21) on rare classes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479A9-49BA-E021-C8F0-232A74B7E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/>
              <a:t>Conclusion: Bridging Foundation Models &amp; Clinical Pathology</a:t>
            </a:r>
            <a:br>
              <a:rPr lang="en-US" sz="2400" b="1" dirty="0"/>
            </a:br>
            <a:endParaRPr lang="en-US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D240F-29AA-373C-2A25-994FE227F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27795"/>
            <a:ext cx="8229600" cy="4525963"/>
          </a:xfrm>
        </p:spPr>
        <p:txBody>
          <a:bodyPr>
            <a:normAutofit fontScale="62500" lnSpcReduction="20000"/>
          </a:bodyPr>
          <a:lstStyle/>
          <a:p>
            <a:r>
              <a:rPr lang="en-US" sz="3700" b="1" dirty="0"/>
              <a:t>Standardizing Clinical Intelligence (Understanding &amp; Practice):</a:t>
            </a:r>
            <a:endParaRPr lang="en-US" sz="3700" dirty="0"/>
          </a:p>
          <a:p>
            <a:pPr lvl="1"/>
            <a:r>
              <a:rPr lang="en-US" sz="3700" dirty="0"/>
              <a:t>Successfully addressed the </a:t>
            </a:r>
            <a:r>
              <a:rPr lang="en-US" sz="3700" b="1" dirty="0"/>
              <a:t>Multi-Instance Multi-Label (MIML)</a:t>
            </a:r>
            <a:r>
              <a:rPr lang="en-US" sz="3700" dirty="0"/>
              <a:t> challenge by mapping bilingual clinical metadata to the </a:t>
            </a:r>
            <a:r>
              <a:rPr lang="en-US" sz="3700" b="1" dirty="0"/>
              <a:t>International ICAP (AC-1 to AC-29)</a:t>
            </a:r>
            <a:r>
              <a:rPr lang="en-US" sz="3700" dirty="0"/>
              <a:t> standards.</a:t>
            </a:r>
          </a:p>
          <a:p>
            <a:pPr lvl="1"/>
            <a:r>
              <a:rPr lang="en-US" sz="3700" dirty="0"/>
              <a:t>Adopted the author-recommended </a:t>
            </a:r>
            <a:r>
              <a:rPr lang="en-US" sz="3700" b="1" dirty="0"/>
              <a:t>benchmarking splits (Train/Val/Test)</a:t>
            </a:r>
            <a:r>
              <a:rPr lang="en-US" sz="3700" dirty="0"/>
              <a:t> to ensure all quantitative results maintain the highest level of scientific rigor and comparability.</a:t>
            </a:r>
          </a:p>
          <a:p>
            <a:r>
              <a:rPr lang="en-US" sz="3700" b="1" dirty="0"/>
              <a:t>Architectural Innovation (AI Techniques &amp; Flair):</a:t>
            </a:r>
            <a:endParaRPr lang="en-US" sz="3700" dirty="0"/>
          </a:p>
          <a:p>
            <a:pPr lvl="1"/>
            <a:r>
              <a:rPr lang="en-US" sz="3700" dirty="0"/>
              <a:t>utilized a </a:t>
            </a:r>
            <a:r>
              <a:rPr lang="en-US" sz="3700" b="1" dirty="0"/>
              <a:t>Token-Aware MIL Pipeline</a:t>
            </a:r>
            <a:r>
              <a:rPr lang="en-US" sz="3700" dirty="0"/>
              <a:t> that replaces traditional raw pixel-based CNNs with high-dimensional </a:t>
            </a:r>
            <a:r>
              <a:rPr lang="en-US" sz="3700" b="1" dirty="0"/>
              <a:t>CLIP </a:t>
            </a:r>
            <a:r>
              <a:rPr lang="en-US" sz="3700" b="1" dirty="0" err="1"/>
              <a:t>ViT</a:t>
            </a:r>
            <a:r>
              <a:rPr lang="en-US" sz="3700" b="1" dirty="0"/>
              <a:t>-L/14 semantic tokens</a:t>
            </a:r>
            <a:r>
              <a:rPr lang="en-US" sz="3700" dirty="0"/>
              <a:t>.</a:t>
            </a:r>
          </a:p>
          <a:p>
            <a:pPr lvl="1"/>
            <a:r>
              <a:rPr lang="en-US" sz="3700" dirty="0"/>
              <a:t>Implemented a specialized </a:t>
            </a:r>
            <a:r>
              <a:rPr lang="en-US" sz="3700" b="1" dirty="0"/>
              <a:t>Medical Projection Head</a:t>
            </a:r>
            <a:r>
              <a:rPr lang="en-US" sz="3700" dirty="0"/>
              <a:t> (2-layer MLP) and </a:t>
            </a:r>
            <a:r>
              <a:rPr lang="en-US" sz="3700" b="1" dirty="0"/>
              <a:t>Class-Wise Attention/Max Pooling</a:t>
            </a:r>
            <a:r>
              <a:rPr lang="en-US" sz="3700" dirty="0"/>
              <a:t> to align general vision features with specialized fluorescence textures.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3075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71F73-1B6A-DF0F-6985-D53B9CDF2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B8015-99E9-FC87-EF82-A65F796FB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3700" b="1" dirty="0"/>
              <a:t>Quantitative Achievement (Performance &amp; Impact):</a:t>
            </a:r>
            <a:endParaRPr lang="en-US" sz="3700" dirty="0"/>
          </a:p>
          <a:p>
            <a:pPr lvl="1"/>
            <a:r>
              <a:rPr lang="en-US" sz="3700" dirty="0"/>
              <a:t>Achieved an </a:t>
            </a:r>
            <a:r>
              <a:rPr lang="en-US" sz="3700" b="1" dirty="0" err="1"/>
              <a:t>mAP</a:t>
            </a:r>
            <a:r>
              <a:rPr lang="en-US" sz="3700" b="1" dirty="0"/>
              <a:t> of 0.4602</a:t>
            </a:r>
            <a:r>
              <a:rPr lang="en-US" sz="3700" dirty="0"/>
              <a:t>, notably </a:t>
            </a:r>
            <a:r>
              <a:rPr lang="en-US" sz="3700" b="1" dirty="0"/>
              <a:t>surpassing the authors' original ResNet-50 baseline</a:t>
            </a:r>
            <a:r>
              <a:rPr lang="en-US" sz="3700" dirty="0"/>
              <a:t> (0.445) while using a significantly more efficient, frozen backbone.</a:t>
            </a:r>
          </a:p>
          <a:p>
            <a:pPr lvl="1"/>
            <a:r>
              <a:rPr lang="en-US" sz="3700" dirty="0"/>
              <a:t>Demonstrated exceptional diagnostic stability for high-frequency classes, reaching an </a:t>
            </a:r>
            <a:r>
              <a:rPr lang="en-US" sz="3700" b="1" dirty="0"/>
              <a:t>AP of 0.92 for Mitochondria (AC-21)</a:t>
            </a:r>
            <a:r>
              <a:rPr lang="en-US" sz="3700" dirty="0"/>
              <a:t> and </a:t>
            </a:r>
            <a:r>
              <a:rPr lang="en-US" sz="3700" b="1" dirty="0"/>
              <a:t>0.87 for DFS70</a:t>
            </a:r>
            <a:r>
              <a:rPr lang="en-US" sz="3700" dirty="0"/>
              <a:t>.</a:t>
            </a:r>
          </a:p>
          <a:p>
            <a:r>
              <a:rPr lang="en-US" sz="3700" b="1" dirty="0"/>
              <a:t>Roadmap to "Pathology GPT" (Vision &amp; Future Work):</a:t>
            </a:r>
            <a:endParaRPr lang="en-US" sz="3700" dirty="0"/>
          </a:p>
          <a:p>
            <a:pPr lvl="1"/>
            <a:r>
              <a:rPr lang="en-US" sz="3700" dirty="0"/>
              <a:t>Identified the "Long-Tail" challenge for rare classes (e.g., Golgi AP: 0.05) through </a:t>
            </a:r>
            <a:r>
              <a:rPr lang="en-US" sz="3700" b="1" dirty="0"/>
              <a:t>F1-Macro analysis</a:t>
            </a:r>
            <a:r>
              <a:rPr lang="en-US" sz="3700" dirty="0"/>
              <a:t>, providing a clear scientific justification for our next phase VQA and Report Generation.</a:t>
            </a:r>
          </a:p>
          <a:p>
            <a:pPr lvl="1"/>
            <a:r>
              <a:rPr lang="en-US" sz="3700" b="1" dirty="0"/>
              <a:t>The Vision:</a:t>
            </a:r>
            <a:r>
              <a:rPr lang="en-US" sz="3700" dirty="0"/>
              <a:t> Moving toward a </a:t>
            </a:r>
            <a:r>
              <a:rPr lang="en-US" sz="3700" b="1" dirty="0"/>
              <a:t>Multimodal Clinical Support System</a:t>
            </a:r>
            <a:r>
              <a:rPr lang="en-US" sz="3700" dirty="0"/>
              <a:t> using Causal LLMs for </a:t>
            </a:r>
            <a:r>
              <a:rPr lang="en-US" sz="3700" b="1" dirty="0"/>
              <a:t>Automated Report Generation</a:t>
            </a:r>
            <a:r>
              <a:rPr lang="en-US" sz="3700" dirty="0"/>
              <a:t> and </a:t>
            </a:r>
            <a:r>
              <a:rPr lang="en-US" sz="3700" b="1" dirty="0"/>
              <a:t>Visual Question Answering (VQA)</a:t>
            </a:r>
            <a:r>
              <a:rPr lang="en-US" sz="3700" dirty="0"/>
              <a:t>, directly addressing data scarcity via Assisted Few-Shot Learning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267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rPr lang="en-US" dirty="0"/>
              <a:t>Feedback?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1598</Words>
  <Application>Microsoft Office PowerPoint</Application>
  <PresentationFormat>On-screen Show (4:3)</PresentationFormat>
  <Paragraphs>174</Paragraphs>
  <Slides>33</Slides>
  <Notes>5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Introduction</vt:lpstr>
      <vt:lpstr>Multi-Label</vt:lpstr>
      <vt:lpstr>PowerPoint Presentation</vt:lpstr>
      <vt:lpstr>PowerPoint Presentation</vt:lpstr>
      <vt:lpstr>PowerPoint Presentation</vt:lpstr>
      <vt:lpstr>Previous 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Performance Results (Quantitative)</vt:lpstr>
      <vt:lpstr>PowerPoint Presentation</vt:lpstr>
      <vt:lpstr>Technology</vt:lpstr>
      <vt:lpstr>Demo</vt:lpstr>
      <vt:lpstr>PowerPoint Presentation</vt:lpstr>
      <vt:lpstr>PowerPoint Presentation</vt:lpstr>
      <vt:lpstr>Demo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Conclusion: Bridging Foundation Models &amp; Clinical Pathology 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Mamoona Nisar</cp:lastModifiedBy>
  <cp:revision>7</cp:revision>
  <dcterms:created xsi:type="dcterms:W3CDTF">2013-01-27T09:14:16Z</dcterms:created>
  <dcterms:modified xsi:type="dcterms:W3CDTF">2026-05-08T18:20:12Z</dcterms:modified>
  <cp:category/>
</cp:coreProperties>
</file>